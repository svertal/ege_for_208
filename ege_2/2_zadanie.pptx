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56" r:id="rId13"/>
    <p:sldId id="258" r:id="rId14"/>
    <p:sldId id="270" r:id="rId15"/>
    <p:sldId id="271" r:id="rId16"/>
    <p:sldId id="272" r:id="rId17"/>
    <p:sldId id="273" r:id="rId18"/>
    <p:sldId id="259" r:id="rId1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1137" y="39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A6A55-9E86-42C4-BDD4-70F48D7C24A3}" type="datetimeFigureOut">
              <a:rPr lang="ru-RU" smtClean="0"/>
              <a:pPr/>
              <a:t>17.09.2025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34F1C-3766-4474-9F43-8890C3E8FCC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1694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A6A55-9E86-42C4-BDD4-70F48D7C24A3}" type="datetimeFigureOut">
              <a:rPr lang="ru-RU" smtClean="0"/>
              <a:pPr/>
              <a:t>17.09.2025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34F1C-3766-4474-9F43-8890C3E8FCC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814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A6A55-9E86-42C4-BDD4-70F48D7C24A3}" type="datetimeFigureOut">
              <a:rPr lang="ru-RU" smtClean="0"/>
              <a:pPr/>
              <a:t>17.09.2025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34F1C-3766-4474-9F43-8890C3E8FCC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1614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A6A55-9E86-42C4-BDD4-70F48D7C24A3}" type="datetimeFigureOut">
              <a:rPr lang="ru-RU" smtClean="0"/>
              <a:pPr/>
              <a:t>17.09.2025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34F1C-3766-4474-9F43-8890C3E8FCC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3690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A6A55-9E86-42C4-BDD4-70F48D7C24A3}" type="datetimeFigureOut">
              <a:rPr lang="ru-RU" smtClean="0"/>
              <a:pPr/>
              <a:t>17.09.2025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34F1C-3766-4474-9F43-8890C3E8FCC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9774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A6A55-9E86-42C4-BDD4-70F48D7C24A3}" type="datetimeFigureOut">
              <a:rPr lang="ru-RU" smtClean="0"/>
              <a:pPr/>
              <a:t>17.09.2025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34F1C-3766-4474-9F43-8890C3E8FCC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6678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A6A55-9E86-42C4-BDD4-70F48D7C24A3}" type="datetimeFigureOut">
              <a:rPr lang="ru-RU" smtClean="0"/>
              <a:pPr/>
              <a:t>17.09.2025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34F1C-3766-4474-9F43-8890C3E8FCC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3282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A6A55-9E86-42C4-BDD4-70F48D7C24A3}" type="datetimeFigureOut">
              <a:rPr lang="ru-RU" smtClean="0"/>
              <a:pPr/>
              <a:t>17.09.2025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34F1C-3766-4474-9F43-8890C3E8FCC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8895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A6A55-9E86-42C4-BDD4-70F48D7C24A3}" type="datetimeFigureOut">
              <a:rPr lang="ru-RU" smtClean="0"/>
              <a:pPr/>
              <a:t>17.09.2025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34F1C-3766-4474-9F43-8890C3E8FCC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6731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A6A55-9E86-42C4-BDD4-70F48D7C24A3}" type="datetimeFigureOut">
              <a:rPr lang="ru-RU" smtClean="0"/>
              <a:pPr/>
              <a:t>17.09.2025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34F1C-3766-4474-9F43-8890C3E8FCC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3067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A6A55-9E86-42C4-BDD4-70F48D7C24A3}" type="datetimeFigureOut">
              <a:rPr lang="ru-RU" smtClean="0"/>
              <a:pPr/>
              <a:t>17.09.2025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34F1C-3766-4474-9F43-8890C3E8FCC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6877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0A6A55-9E86-42C4-BDD4-70F48D7C24A3}" type="datetimeFigureOut">
              <a:rPr lang="ru-RU" smtClean="0"/>
              <a:pPr/>
              <a:t>17.09.2025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434F1C-3766-4474-9F43-8890C3E8FCC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7579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Общая теория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X,Y,Z,W-</a:t>
            </a:r>
            <a:r>
              <a:rPr lang="ru-RU" dirty="0"/>
              <a:t>просто буквы, пусть будут</a:t>
            </a:r>
          </a:p>
          <a:p>
            <a:r>
              <a:rPr lang="ru-RU" dirty="0"/>
              <a:t>∨ - операция или</a:t>
            </a:r>
            <a:r>
              <a:rPr lang="en-US" dirty="0"/>
              <a:t> </a:t>
            </a:r>
            <a:r>
              <a:rPr lang="ru-RU" dirty="0"/>
              <a:t>(</a:t>
            </a:r>
            <a:r>
              <a:rPr lang="en-US" dirty="0"/>
              <a:t>or </a:t>
            </a:r>
            <a:r>
              <a:rPr lang="ru-RU" dirty="0"/>
              <a:t>на </a:t>
            </a:r>
            <a:r>
              <a:rPr lang="en-US" dirty="0"/>
              <a:t>python</a:t>
            </a:r>
            <a:r>
              <a:rPr lang="ru-RU" dirty="0"/>
              <a:t>  )</a:t>
            </a:r>
            <a:endParaRPr lang="en-US" dirty="0"/>
          </a:p>
          <a:p>
            <a:r>
              <a:rPr lang="ru-RU" dirty="0"/>
              <a:t>∧</a:t>
            </a:r>
            <a:r>
              <a:rPr lang="en-US" dirty="0"/>
              <a:t> - </a:t>
            </a:r>
            <a:r>
              <a:rPr lang="ru-RU" dirty="0"/>
              <a:t>операция и (</a:t>
            </a:r>
            <a:r>
              <a:rPr lang="en-US" dirty="0"/>
              <a:t>and </a:t>
            </a:r>
            <a:r>
              <a:rPr lang="ru-RU" dirty="0"/>
              <a:t>на </a:t>
            </a:r>
            <a:r>
              <a:rPr lang="en-US" dirty="0"/>
              <a:t>python</a:t>
            </a:r>
            <a:r>
              <a:rPr lang="ru-RU" dirty="0"/>
              <a:t>  )</a:t>
            </a:r>
          </a:p>
          <a:p>
            <a:r>
              <a:rPr lang="ru-RU" dirty="0"/>
              <a:t>¬ - отрицание(</a:t>
            </a:r>
            <a:r>
              <a:rPr lang="en-US" dirty="0"/>
              <a:t>not </a:t>
            </a:r>
            <a:r>
              <a:rPr lang="ru-RU" dirty="0"/>
              <a:t>на </a:t>
            </a:r>
            <a:r>
              <a:rPr lang="en-US" dirty="0"/>
              <a:t>python</a:t>
            </a:r>
            <a:r>
              <a:rPr lang="ru-RU" dirty="0"/>
              <a:t>)</a:t>
            </a:r>
          </a:p>
          <a:p>
            <a:r>
              <a:rPr lang="ru-RU" dirty="0"/>
              <a:t>≡ </a:t>
            </a:r>
            <a:r>
              <a:rPr lang="en-US" dirty="0"/>
              <a:t>-</a:t>
            </a:r>
            <a:r>
              <a:rPr lang="ru-RU" dirty="0"/>
              <a:t>приравнивание (== на </a:t>
            </a:r>
            <a:r>
              <a:rPr lang="en-US" dirty="0"/>
              <a:t>python</a:t>
            </a:r>
            <a:r>
              <a:rPr lang="ru-RU" dirty="0"/>
              <a:t>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ru-RU" dirty="0"/>
              <a:t>(x ∨ ¬y) ∧ ¬(</a:t>
            </a:r>
            <a:r>
              <a:rPr lang="ru-RU" dirty="0" err="1"/>
              <a:t>y≡z</a:t>
            </a:r>
            <a:r>
              <a:rPr lang="ru-RU" dirty="0"/>
              <a:t>) ∧ w</a:t>
            </a:r>
            <a:r>
              <a:rPr lang="en-US" dirty="0"/>
              <a:t> :</a:t>
            </a:r>
          </a:p>
          <a:p>
            <a:pPr marL="0" indent="0">
              <a:buNone/>
            </a:pPr>
            <a:r>
              <a:rPr lang="en-US" dirty="0"/>
              <a:t>(X </a:t>
            </a:r>
            <a:r>
              <a:rPr lang="ru-RU" dirty="0"/>
              <a:t> или не </a:t>
            </a:r>
            <a:r>
              <a:rPr lang="en-US" dirty="0"/>
              <a:t>y) </a:t>
            </a:r>
            <a:r>
              <a:rPr lang="ru-RU" dirty="0"/>
              <a:t>и не</a:t>
            </a:r>
            <a:r>
              <a:rPr lang="en-US" dirty="0"/>
              <a:t>(y </a:t>
            </a:r>
            <a:r>
              <a:rPr lang="ru-RU" dirty="0"/>
              <a:t>равно </a:t>
            </a:r>
            <a:r>
              <a:rPr lang="en-US" dirty="0"/>
              <a:t>z) </a:t>
            </a:r>
            <a:r>
              <a:rPr lang="ru-RU" dirty="0"/>
              <a:t>или </a:t>
            </a:r>
            <a:r>
              <a:rPr lang="en-US" dirty="0"/>
              <a:t>w</a:t>
            </a:r>
            <a:endParaRPr lang="ru-RU" dirty="0"/>
          </a:p>
          <a:p>
            <a:endParaRPr lang="en-US" dirty="0"/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08062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124745"/>
            <a:ext cx="7200800" cy="4239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29F9A90-BC43-4E4F-A3E5-5E5FE2DF619B}"/>
              </a:ext>
            </a:extLst>
          </p:cNvPr>
          <p:cNvSpPr txBox="1"/>
          <p:nvPr/>
        </p:nvSpPr>
        <p:spPr>
          <a:xfrm>
            <a:off x="1979712" y="5733255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Раскрытие импликации не забывайте!</a:t>
            </a:r>
          </a:p>
          <a:p>
            <a:r>
              <a:rPr lang="en-US" dirty="0"/>
              <a:t>A-&gt;B = -A v 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Rectangle 1"/>
          <p:cNvSpPr>
            <a:spLocks noChangeArrowheads="1"/>
          </p:cNvSpPr>
          <p:nvPr/>
        </p:nvSpPr>
        <p:spPr bwMode="auto">
          <a:xfrm>
            <a:off x="0" y="-292387"/>
            <a:ext cx="9144000" cy="284693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Verdana" pitchFamily="34" charset="0"/>
              <a:cs typeface="Arial" pitchFamily="34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ru-RU" sz="2000" dirty="0"/>
              <a:t>Дан частично заполненный фрагмент, содержащий </a:t>
            </a:r>
            <a:r>
              <a:rPr lang="ru-RU" sz="2000" b="1" dirty="0"/>
              <a:t>неповторяющиеся</a:t>
            </a:r>
            <a:r>
              <a:rPr lang="ru-RU" sz="2000" dirty="0"/>
              <a:t> строки таблицы истинности функции </a:t>
            </a:r>
            <a:r>
              <a:rPr lang="ru-RU" sz="2000" i="1" dirty="0"/>
              <a:t>F</a:t>
            </a:r>
            <a:r>
              <a:rPr lang="ru-RU" sz="2000" dirty="0"/>
              <a:t>.</a:t>
            </a:r>
            <a:endParaRPr kumimoji="0" 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dirty="0"/>
              <a:t> Миша заполнял таблицу истинности функции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ru-RU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Verdana" pitchFamily="34" charset="0"/>
              <a:cs typeface="Arial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cs typeface="Arial" pitchFamily="34" charset="0"/>
              </a:rPr>
              <a:t>                           </a:t>
            </a:r>
            <a:r>
              <a:rPr lang="pl-PL" sz="2400" dirty="0"/>
              <a:t>(w → z) ∧ ((y → x) ≡ (z → y))</a:t>
            </a:r>
            <a:endParaRPr kumimoji="0" lang="ru-RU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Verdana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</a:br>
            <a:endParaRPr kumimoji="0" 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Verdana" pitchFamily="34" charset="0"/>
                <a:cs typeface="Arial" pitchFamily="34" charset="0"/>
              </a:rPr>
              <a:t> </a:t>
            </a:r>
            <a:endParaRPr kumimoji="0" lang="ru-RU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916832"/>
            <a:ext cx="8388424" cy="18485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0" y="4077072"/>
            <a:ext cx="9144000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/>
              <a:t>Определите, какому столбцу таблицы соответствует каждая из переменных </a:t>
            </a:r>
            <a:r>
              <a:rPr lang="ru-RU" sz="2000" dirty="0" err="1"/>
              <a:t>w</a:t>
            </a:r>
            <a:r>
              <a:rPr lang="ru-RU" sz="2000" dirty="0"/>
              <a:t>, </a:t>
            </a:r>
            <a:r>
              <a:rPr lang="ru-RU" sz="2000" dirty="0" err="1"/>
              <a:t>x</a:t>
            </a:r>
            <a:r>
              <a:rPr lang="ru-RU" sz="2000" dirty="0"/>
              <a:t>, </a:t>
            </a:r>
            <a:r>
              <a:rPr lang="ru-RU" sz="2000" dirty="0" err="1"/>
              <a:t>y</a:t>
            </a:r>
            <a:r>
              <a:rPr lang="ru-RU" sz="2000" dirty="0"/>
              <a:t>, </a:t>
            </a:r>
            <a:r>
              <a:rPr lang="ru-RU" sz="2000" dirty="0" err="1"/>
              <a:t>z</a:t>
            </a:r>
            <a:r>
              <a:rPr lang="ru-RU" sz="2000" dirty="0"/>
              <a:t>.</a:t>
            </a:r>
          </a:p>
          <a:p>
            <a:r>
              <a:rPr lang="ru-RU" sz="2000" dirty="0"/>
              <a:t>В ответе напишите буквы </a:t>
            </a:r>
            <a:r>
              <a:rPr lang="ru-RU" sz="2000" dirty="0" err="1"/>
              <a:t>w</a:t>
            </a:r>
            <a:r>
              <a:rPr lang="ru-RU" sz="2000" dirty="0"/>
              <a:t>, </a:t>
            </a:r>
            <a:r>
              <a:rPr lang="ru-RU" sz="2000" dirty="0" err="1"/>
              <a:t>x</a:t>
            </a:r>
            <a:r>
              <a:rPr lang="ru-RU" sz="2000" dirty="0"/>
              <a:t>, </a:t>
            </a:r>
            <a:r>
              <a:rPr lang="ru-RU" sz="2000" dirty="0" err="1"/>
              <a:t>y</a:t>
            </a:r>
            <a:r>
              <a:rPr lang="ru-RU" sz="2000" dirty="0"/>
              <a:t>, </a:t>
            </a:r>
            <a:r>
              <a:rPr lang="ru-RU" sz="2000" dirty="0" err="1"/>
              <a:t>z</a:t>
            </a:r>
            <a:r>
              <a:rPr lang="ru-RU" sz="2000" dirty="0"/>
              <a:t> в том порядке, в котором идут соответствующие им столбцы (сначала буква, соответствующая первому столбцу; затем буква, соответствующая второму столбцу, и т.д.). Буквы в ответе пишите подряд, никаких разделителей между буквами ставить не нужно.</a:t>
            </a:r>
          </a:p>
          <a:p>
            <a:br>
              <a:rPr lang="ru-RU" dirty="0"/>
            </a:br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260648"/>
            <a:ext cx="9222351" cy="259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Прямоугольник 2"/>
          <p:cNvSpPr/>
          <p:nvPr/>
        </p:nvSpPr>
        <p:spPr>
          <a:xfrm>
            <a:off x="0" y="2780929"/>
            <a:ext cx="9144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ru-RU" dirty="0"/>
              <a:t>В задаче у нас 4 переменные, значит, формируем 4 вложенных цикла. В каждом цикле перебираем все возможные значения для конкретной переменной. Мы перебираем значения 0 и 1.</a:t>
            </a:r>
            <a:r>
              <a:rPr lang="en-US" dirty="0"/>
              <a:t>   </a:t>
            </a:r>
            <a:r>
              <a:rPr lang="ru-RU" dirty="0"/>
              <a:t>Функция должна выдавать всегда 1 (единицу, истину</a:t>
            </a:r>
            <a:r>
              <a:rPr lang="en-US" dirty="0"/>
              <a:t> </a:t>
            </a:r>
            <a:r>
              <a:rPr lang="ru-RU" dirty="0"/>
              <a:t>по условию задачи). Внутри всех циклов прописываем условие, которое срабатывает как раз на истину.</a:t>
            </a:r>
          </a:p>
          <a:p>
            <a:r>
              <a:rPr lang="ru-RU" dirty="0"/>
              <a:t>			Не забываем раскрывать импликацию!</a:t>
            </a:r>
          </a:p>
          <a:p>
            <a:br>
              <a:rPr lang="ru-RU" dirty="0"/>
            </a:br>
            <a:endParaRPr lang="ru-RU" dirty="0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3528" y="4170575"/>
            <a:ext cx="1728192" cy="27083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015208" y="5009466"/>
            <a:ext cx="7128792" cy="18485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Прямоугольник 6"/>
          <p:cNvSpPr/>
          <p:nvPr/>
        </p:nvSpPr>
        <p:spPr>
          <a:xfrm>
            <a:off x="3203848" y="4437112"/>
            <a:ext cx="421350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l-PL" dirty="0"/>
              <a:t>(w → z) ∧ ((y → x) ≡ (z → y))</a:t>
            </a:r>
            <a:endParaRPr lang="ru-RU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2996952"/>
            <a:ext cx="7668344" cy="3233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608" y="1196752"/>
            <a:ext cx="7128792" cy="18485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4572000" y="1052736"/>
            <a:ext cx="28103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l-PL" dirty="0"/>
              <a:t>(w → z) ∧ ((y → x) ≡ (z → y))</a:t>
            </a:r>
            <a:endParaRPr lang="ru-RU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260648"/>
            <a:ext cx="8905875" cy="4392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Прямоугольник 2"/>
          <p:cNvSpPr/>
          <p:nvPr/>
        </p:nvSpPr>
        <p:spPr>
          <a:xfrm>
            <a:off x="899592" y="4725144"/>
            <a:ext cx="7085081" cy="17543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l-PL" sz="3600" dirty="0"/>
              <a:t>(x ≡ ¬y) → ((x ∧ w) ≡ z)</a:t>
            </a:r>
            <a:endParaRPr lang="ru-RU" sz="3600" dirty="0"/>
          </a:p>
          <a:p>
            <a:r>
              <a:rPr lang="ru-RU" sz="3600" dirty="0"/>
              <a:t>В чем отличие от прошлой задачи?</a:t>
            </a:r>
          </a:p>
          <a:p>
            <a:r>
              <a:rPr lang="ru-RU" sz="3600" dirty="0"/>
              <a:t>Код написать самостоятельно.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1843" y="0"/>
            <a:ext cx="8922157" cy="32129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Прямоугольник 2"/>
          <p:cNvSpPr/>
          <p:nvPr/>
        </p:nvSpPr>
        <p:spPr>
          <a:xfrm>
            <a:off x="0" y="4077072"/>
            <a:ext cx="9144000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/>
              <a:t>В таблице видим, что функция должна выдавать ноль. Поэтому в условии мы функцию "оборачиваем" в </a:t>
            </a:r>
            <a:r>
              <a:rPr lang="ru-RU" sz="2800" b="1" dirty="0" err="1"/>
              <a:t>not</a:t>
            </a:r>
            <a:r>
              <a:rPr lang="ru-RU" sz="2800" b="1" dirty="0"/>
              <a:t>()</a:t>
            </a:r>
            <a:r>
              <a:rPr lang="ru-RU" sz="2800" dirty="0"/>
              <a:t>.</a:t>
            </a:r>
          </a:p>
          <a:p>
            <a:br>
              <a:rPr lang="ru-RU" sz="2800" dirty="0"/>
            </a:br>
            <a:r>
              <a:rPr lang="ru-RU" sz="2800" dirty="0"/>
              <a:t>После == операцию </a:t>
            </a:r>
            <a:r>
              <a:rPr lang="ru-RU" sz="2800" b="1" dirty="0" err="1"/>
              <a:t>not</a:t>
            </a:r>
            <a:r>
              <a:rPr lang="ru-RU" sz="2800" b="1" dirty="0"/>
              <a:t>()</a:t>
            </a:r>
            <a:r>
              <a:rPr lang="ru-RU" sz="2800" dirty="0"/>
              <a:t> мы заключили в скобки, чтобы не было синтаксической ошибки.</a:t>
            </a:r>
          </a:p>
          <a:p>
            <a:br>
              <a:rPr lang="ru-RU" dirty="0"/>
            </a:br>
            <a:endParaRPr lang="ru-RU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1"/>
          <p:cNvSpPr>
            <a:spLocks noChangeArrowheads="1"/>
          </p:cNvSpPr>
          <p:nvPr/>
        </p:nvSpPr>
        <p:spPr bwMode="auto">
          <a:xfrm>
            <a:off x="0" y="-879392"/>
            <a:ext cx="7194598" cy="22159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1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Verdana" pitchFamily="34" charset="0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sz="1100" dirty="0">
              <a:solidFill>
                <a:srgbClr val="333333"/>
              </a:solidFill>
              <a:latin typeface="Verdana" pitchFamily="34" charset="0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1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Verdana" pitchFamily="34" charset="0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sz="1100" dirty="0">
              <a:solidFill>
                <a:srgbClr val="333333"/>
              </a:solidFill>
              <a:latin typeface="Verdana" pitchFamily="34" charset="0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1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Verdana" pitchFamily="34" charset="0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sz="1100" dirty="0">
              <a:solidFill>
                <a:srgbClr val="333333"/>
              </a:solidFill>
              <a:latin typeface="Verdana" pitchFamily="34" charset="0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Verdana" pitchFamily="34" charset="0"/>
                <a:cs typeface="Arial" pitchFamily="34" charset="0"/>
              </a:rPr>
              <a:t>Получаем следующую таблицу истинности:</a:t>
            </a:r>
            <a:endParaRPr kumimoji="0" 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 </a:t>
            </a:r>
            <a:r>
              <a:rPr kumimoji="0" lang="ru-RU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endParaRPr kumimoji="0" 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23554" name="Picture 2" descr="ЕГЭ по информатике 2022 - задание 2 (таблица истинности 2)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620689"/>
            <a:ext cx="2555776" cy="1872208"/>
          </a:xfrm>
          <a:prstGeom prst="rect">
            <a:avLst/>
          </a:prstGeom>
          <a:noFill/>
        </p:spPr>
      </p:pic>
      <p:pic>
        <p:nvPicPr>
          <p:cNvPr id="23556" name="Picture 4" descr="ЕГЭ по информатике 2022 - задание 2 (классическая задача 2)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55776" y="620688"/>
            <a:ext cx="5715000" cy="1944216"/>
          </a:xfrm>
          <a:prstGeom prst="rect">
            <a:avLst/>
          </a:prstGeom>
          <a:noFill/>
        </p:spPr>
      </p:pic>
      <p:sp>
        <p:nvSpPr>
          <p:cNvPr id="5" name="Прямоугольник 4"/>
          <p:cNvSpPr/>
          <p:nvPr/>
        </p:nvSpPr>
        <p:spPr>
          <a:xfrm>
            <a:off x="611560" y="3105835"/>
            <a:ext cx="76328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Какую строку из нашей таблицы можно вычеркнуть?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764704"/>
            <a:ext cx="9149127" cy="3881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95536" y="188640"/>
            <a:ext cx="842493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Логическая функция F задаётся выражением ((</a:t>
            </a:r>
            <a:r>
              <a:rPr lang="ru-RU" dirty="0" err="1"/>
              <a:t>x</a:t>
            </a:r>
            <a:r>
              <a:rPr lang="ru-RU" dirty="0"/>
              <a:t> → </a:t>
            </a:r>
            <a:r>
              <a:rPr lang="ru-RU" dirty="0" err="1"/>
              <a:t>y</a:t>
            </a:r>
            <a:r>
              <a:rPr lang="ru-RU" dirty="0"/>
              <a:t> ) ∧ (</a:t>
            </a:r>
            <a:r>
              <a:rPr lang="ru-RU" dirty="0" err="1"/>
              <a:t>y</a:t>
            </a:r>
            <a:r>
              <a:rPr lang="ru-RU" dirty="0"/>
              <a:t> → </a:t>
            </a:r>
            <a:r>
              <a:rPr lang="ru-RU" dirty="0" err="1"/>
              <a:t>w</a:t>
            </a:r>
            <a:r>
              <a:rPr lang="ru-RU" dirty="0"/>
              <a:t>)) ∨ (</a:t>
            </a:r>
            <a:r>
              <a:rPr lang="ru-RU" dirty="0" err="1"/>
              <a:t>z</a:t>
            </a:r>
            <a:r>
              <a:rPr lang="ru-RU" dirty="0"/>
              <a:t> ≡ ( </a:t>
            </a:r>
            <a:r>
              <a:rPr lang="ru-RU" dirty="0" err="1"/>
              <a:t>x</a:t>
            </a:r>
            <a:r>
              <a:rPr lang="ru-RU" dirty="0"/>
              <a:t> ∨ </a:t>
            </a:r>
            <a:r>
              <a:rPr lang="ru-RU" dirty="0" err="1"/>
              <a:t>y</a:t>
            </a:r>
            <a:r>
              <a:rPr lang="ru-RU" dirty="0"/>
              <a:t>)).</a:t>
            </a:r>
            <a:br>
              <a:rPr lang="ru-RU" dirty="0"/>
            </a:br>
            <a:r>
              <a:rPr lang="ru-RU" dirty="0"/>
              <a:t>Дан частично заполненный фрагмент, содержащий </a:t>
            </a:r>
            <a:r>
              <a:rPr lang="ru-RU" b="1" dirty="0"/>
              <a:t>неповторяющиеся</a:t>
            </a:r>
            <a:r>
              <a:rPr lang="ru-RU" dirty="0"/>
              <a:t> строки таблицы истинности</a:t>
            </a:r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0593" y="1556792"/>
            <a:ext cx="9063407" cy="20162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560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31640" y="3715833"/>
            <a:ext cx="2880320" cy="31421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38316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Прямоугольник 2"/>
          <p:cNvSpPr/>
          <p:nvPr/>
        </p:nvSpPr>
        <p:spPr>
          <a:xfrm>
            <a:off x="0" y="4365104"/>
            <a:ext cx="8964488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Переменная </a:t>
            </a:r>
            <a:r>
              <a:rPr lang="ru-RU" b="1" dirty="0" err="1"/>
              <a:t>z</a:t>
            </a:r>
            <a:r>
              <a:rPr lang="ru-RU" dirty="0"/>
              <a:t> может быть только в третьем столбце.</a:t>
            </a:r>
          </a:p>
          <a:p>
            <a:br>
              <a:rPr lang="ru-RU" dirty="0"/>
            </a:br>
            <a:r>
              <a:rPr lang="ru-RU" dirty="0"/>
              <a:t>Во второй столбец идёт переменная </a:t>
            </a:r>
            <a:r>
              <a:rPr lang="ru-RU" b="1" dirty="0" err="1"/>
              <a:t>w</a:t>
            </a:r>
            <a:r>
              <a:rPr lang="ru-RU" dirty="0"/>
              <a:t>, только этот столбец может иметь одну единицу.</a:t>
            </a:r>
          </a:p>
          <a:p>
            <a:br>
              <a:rPr lang="ru-RU" dirty="0"/>
            </a:br>
            <a:r>
              <a:rPr lang="ru-RU" dirty="0"/>
              <a:t>Посмотрим на строчку, где у </a:t>
            </a:r>
            <a:r>
              <a:rPr lang="ru-RU" b="1" dirty="0" err="1"/>
              <a:t>w</a:t>
            </a:r>
            <a:r>
              <a:rPr lang="ru-RU" dirty="0"/>
              <a:t> стоит единица. В этой же строчке и у </a:t>
            </a:r>
            <a:r>
              <a:rPr lang="ru-RU" b="1" dirty="0" err="1"/>
              <a:t>x</a:t>
            </a:r>
            <a:r>
              <a:rPr lang="ru-RU" dirty="0"/>
              <a:t> единица. </a:t>
            </a:r>
          </a:p>
          <a:p>
            <a:endParaRPr lang="ru-RU" dirty="0"/>
          </a:p>
          <a:p>
            <a:r>
              <a:rPr lang="ru-RU" dirty="0"/>
              <a:t>Значит, </a:t>
            </a:r>
            <a:r>
              <a:rPr lang="ru-RU" b="1" dirty="0" err="1"/>
              <a:t>x</a:t>
            </a:r>
            <a:r>
              <a:rPr lang="ru-RU" dirty="0"/>
              <a:t> идёт в последний столбец, а </a:t>
            </a:r>
            <a:r>
              <a:rPr lang="ru-RU" b="1" dirty="0" err="1"/>
              <a:t>y</a:t>
            </a:r>
            <a:r>
              <a:rPr lang="ru-RU" dirty="0"/>
              <a:t> в первый столбец.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467544" y="0"/>
            <a:ext cx="7772400" cy="1470025"/>
          </a:xfrm>
        </p:spPr>
        <p:txBody>
          <a:bodyPr/>
          <a:lstStyle/>
          <a:p>
            <a:r>
              <a:rPr lang="ru-RU" dirty="0"/>
              <a:t>2 задание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07504" y="1412776"/>
            <a:ext cx="8496944" cy="4968552"/>
          </a:xfrm>
        </p:spPr>
        <p:txBody>
          <a:bodyPr>
            <a:normAutofit fontScale="85000" lnSpcReduction="20000"/>
          </a:bodyPr>
          <a:lstStyle/>
          <a:p>
            <a:pPr lvl="0"/>
            <a:r>
              <a:rPr lang="ru-RU" dirty="0">
                <a:solidFill>
                  <a:schemeClr val="tx1"/>
                </a:solidFill>
              </a:rPr>
              <a:t>Миша заполнял таблицу истинности функции </a:t>
            </a:r>
            <a:endParaRPr lang="en-US" dirty="0">
              <a:solidFill>
                <a:schemeClr val="tx1"/>
              </a:solidFill>
            </a:endParaRPr>
          </a:p>
          <a:p>
            <a:pPr lvl="0"/>
            <a:r>
              <a:rPr lang="ru-RU" b="1" dirty="0">
                <a:solidFill>
                  <a:schemeClr val="tx1"/>
                </a:solidFill>
              </a:rPr>
              <a:t>(x ∨ ¬y) ∧ ¬(</a:t>
            </a:r>
            <a:r>
              <a:rPr lang="ru-RU" b="1" dirty="0" err="1">
                <a:solidFill>
                  <a:schemeClr val="tx1"/>
                </a:solidFill>
              </a:rPr>
              <a:t>y≡z</a:t>
            </a:r>
            <a:r>
              <a:rPr lang="ru-RU" b="1" dirty="0">
                <a:solidFill>
                  <a:schemeClr val="tx1"/>
                </a:solidFill>
              </a:rPr>
              <a:t>) ∧ w, </a:t>
            </a:r>
            <a:endParaRPr lang="en-US" b="1" dirty="0">
              <a:solidFill>
                <a:schemeClr val="tx1"/>
              </a:solidFill>
            </a:endParaRPr>
          </a:p>
          <a:p>
            <a:pPr lvl="0"/>
            <a:r>
              <a:rPr lang="ru-RU" dirty="0">
                <a:solidFill>
                  <a:schemeClr val="tx1"/>
                </a:solidFill>
              </a:rPr>
              <a:t>но успел заполнить лишь фрагмент из трёх различных её строк, даже не указав, какому столбцу таблицы соответствует каждая из переменных. </a:t>
            </a:r>
          </a:p>
          <a:p>
            <a:r>
              <a:rPr lang="ru-RU" dirty="0">
                <a:solidFill>
                  <a:schemeClr val="tx1"/>
                </a:solidFill>
              </a:rPr>
              <a:t>Определите, какому столбцу таблицы соответствует каждая из переменных w, x, y, z. </a:t>
            </a:r>
          </a:p>
          <a:p>
            <a:r>
              <a:rPr lang="ru-RU" dirty="0">
                <a:solidFill>
                  <a:schemeClr val="tx1"/>
                </a:solidFill>
              </a:rPr>
              <a:t>В ответе напишите буквы w, x, y, z в том порядке, в котором идут соответствующие им столбцы (сначала буква, соответствующая первому столбцу; затем буква, соответствующая второму столбцу, и т.д.). Буквы в ответе пишите подряд, никаких разделителей между буквами ставить не нужно. </a:t>
            </a:r>
          </a:p>
          <a:p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97360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flipH="1">
            <a:off x="395536" y="2132856"/>
            <a:ext cx="8748464" cy="4320480"/>
          </a:xfrm>
        </p:spPr>
        <p:txBody>
          <a:bodyPr>
            <a:normAutofit fontScale="90000"/>
          </a:bodyPr>
          <a:lstStyle/>
          <a:p>
            <a:pPr algn="l"/>
            <a:r>
              <a:rPr lang="ru-RU" sz="3000" dirty="0"/>
              <a:t>Запись на </a:t>
            </a:r>
            <a:r>
              <a:rPr lang="en-US" sz="3000" dirty="0"/>
              <a:t>python </a:t>
            </a:r>
            <a:r>
              <a:rPr lang="ru-RU" sz="3000" dirty="0"/>
              <a:t>для данной задачи (другой шаблон)</a:t>
            </a:r>
            <a:r>
              <a:rPr lang="en-US" sz="3000" dirty="0"/>
              <a:t>:</a:t>
            </a:r>
            <a:br>
              <a:rPr lang="en-US" sz="3000" dirty="0"/>
            </a:br>
            <a:r>
              <a:rPr lang="en-US" sz="3000" dirty="0"/>
              <a:t>print(‘x y z w’)</a:t>
            </a:r>
            <a:br>
              <a:rPr lang="en-US" sz="3000" dirty="0"/>
            </a:br>
            <a:r>
              <a:rPr lang="en-US" sz="3000" dirty="0"/>
              <a:t>for x in range(2):</a:t>
            </a:r>
            <a:br>
              <a:rPr lang="en-US" sz="3000" dirty="0"/>
            </a:br>
            <a:r>
              <a:rPr lang="en-US" sz="3000" dirty="0"/>
              <a:t>      for y in range(2):</a:t>
            </a:r>
            <a:br>
              <a:rPr lang="en-US" sz="3000" dirty="0"/>
            </a:br>
            <a:r>
              <a:rPr lang="en-US" sz="3000" dirty="0"/>
              <a:t>            for z in range(2):</a:t>
            </a:r>
            <a:br>
              <a:rPr lang="en-US" sz="3000" dirty="0"/>
            </a:br>
            <a:r>
              <a:rPr lang="en-US" sz="3000" dirty="0"/>
              <a:t>                  for w in range(2):</a:t>
            </a:r>
            <a:br>
              <a:rPr lang="en-US" sz="3000" dirty="0"/>
            </a:br>
            <a:r>
              <a:rPr lang="en-US" sz="3000" dirty="0"/>
              <a:t>     </a:t>
            </a:r>
            <a:r>
              <a:rPr lang="ru-RU" sz="3000" dirty="0"/>
              <a:t>                </a:t>
            </a:r>
            <a:r>
              <a:rPr lang="en-US" sz="3000" dirty="0"/>
              <a:t>  if (</a:t>
            </a:r>
            <a:r>
              <a:rPr lang="ru-RU" sz="3000" dirty="0"/>
              <a:t>(</a:t>
            </a:r>
            <a:r>
              <a:rPr lang="en-US" sz="3000" dirty="0"/>
              <a:t>x or (not (y))</a:t>
            </a:r>
            <a:r>
              <a:rPr lang="ru-RU" sz="3000" dirty="0"/>
              <a:t>)</a:t>
            </a:r>
            <a:r>
              <a:rPr lang="en-US" sz="3000" dirty="0"/>
              <a:t> and (not(y==z)) and w</a:t>
            </a:r>
            <a:r>
              <a:rPr lang="en-US" sz="3000" dirty="0">
                <a:solidFill>
                  <a:srgbClr val="FF0000"/>
                </a:solidFill>
              </a:rPr>
              <a:t>)==True:</a:t>
            </a:r>
            <a:br>
              <a:rPr lang="en-US" sz="3000" dirty="0">
                <a:solidFill>
                  <a:srgbClr val="FF0000"/>
                </a:solidFill>
              </a:rPr>
            </a:br>
            <a:r>
              <a:rPr lang="ru-RU" sz="3000" dirty="0"/>
              <a:t>                            </a:t>
            </a:r>
            <a:r>
              <a:rPr lang="en-US" sz="3000" dirty="0"/>
              <a:t>print(</a:t>
            </a:r>
            <a:r>
              <a:rPr lang="en-US" sz="3000" dirty="0" err="1"/>
              <a:t>x,y,z,w</a:t>
            </a:r>
            <a:r>
              <a:rPr lang="en-US" sz="3000" dirty="0"/>
              <a:t>)</a:t>
            </a:r>
            <a:br>
              <a:rPr lang="en-US" sz="3000" dirty="0"/>
            </a:br>
            <a:endParaRPr lang="ru-RU" sz="3000" dirty="0"/>
          </a:p>
        </p:txBody>
      </p:sp>
      <p:pic>
        <p:nvPicPr>
          <p:cNvPr id="4" name="Объект 3"/>
          <p:cNvPicPr>
            <a:picLocks noGrp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116632"/>
            <a:ext cx="8280920" cy="1728192"/>
          </a:xfrm>
          <a:prstGeom prst="rect">
            <a:avLst/>
          </a:prstGeom>
        </p:spPr>
      </p:pic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80112" y="2924944"/>
            <a:ext cx="2376264" cy="19062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2701347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2DCD081-057B-45E0-8C9F-5A84E91C057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946" t="27996" r="5595"/>
          <a:stretch/>
        </p:blipFill>
        <p:spPr>
          <a:xfrm>
            <a:off x="89832" y="116632"/>
            <a:ext cx="6858432" cy="387522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741EBA1-77B7-4D7F-B969-35F0AC174E2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32" b="32068"/>
          <a:stretch/>
        </p:blipFill>
        <p:spPr>
          <a:xfrm>
            <a:off x="3491880" y="4293096"/>
            <a:ext cx="5256584" cy="256693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23138C9-2430-4954-94C4-6D8569B5E2F3}"/>
              </a:ext>
            </a:extLst>
          </p:cNvPr>
          <p:cNvSpPr txBox="1"/>
          <p:nvPr/>
        </p:nvSpPr>
        <p:spPr>
          <a:xfrm>
            <a:off x="2195736" y="3717032"/>
            <a:ext cx="45978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ru-RU" b="1" dirty="0">
                <a:solidFill>
                  <a:srgbClr val="222222"/>
                </a:solidFill>
                <a:latin typeface="PT Serif" panose="020A0603040505020204" pitchFamily="18" charset="0"/>
              </a:rPr>
              <a:t>Рассмотрим 1 строку таблицы</a:t>
            </a:r>
            <a:endParaRPr lang="pl-PL" b="1" i="0" dirty="0">
              <a:solidFill>
                <a:srgbClr val="222222"/>
              </a:solidFill>
              <a:effectLst/>
              <a:latin typeface="PT Serif" panose="020A06030405050202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ACE662-618B-4FE3-A6A2-B707CEA70EB4}"/>
              </a:ext>
            </a:extLst>
          </p:cNvPr>
          <p:cNvSpPr txBox="1"/>
          <p:nvPr/>
        </p:nvSpPr>
        <p:spPr>
          <a:xfrm>
            <a:off x="5436096" y="404664"/>
            <a:ext cx="352839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ru-RU" b="1" dirty="0">
                <a:solidFill>
                  <a:srgbClr val="222222"/>
                </a:solidFill>
                <a:latin typeface="PT Serif" panose="020A0603040505020204" pitchFamily="18" charset="0"/>
              </a:rPr>
              <a:t>ЗАДАЧА НА 2 ФУНКЦИИ</a:t>
            </a:r>
          </a:p>
          <a:p>
            <a:pPr algn="l" fontAlgn="base"/>
            <a:r>
              <a:rPr lang="ru-RU" b="1" dirty="0">
                <a:solidFill>
                  <a:srgbClr val="222222"/>
                </a:solidFill>
                <a:latin typeface="PT Serif" panose="020A0603040505020204" pitchFamily="18" charset="0"/>
              </a:rPr>
              <a:t>( редко встречается)</a:t>
            </a:r>
          </a:p>
          <a:p>
            <a:pPr algn="l" fontAlgn="base"/>
            <a:endParaRPr lang="pl-PL" b="1" i="0" dirty="0">
              <a:solidFill>
                <a:srgbClr val="222222"/>
              </a:solidFill>
              <a:effectLst/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19631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FD7AC56-57AF-44A1-A01C-93A036015908}"/>
              </a:ext>
            </a:extLst>
          </p:cNvPr>
          <p:cNvSpPr txBox="1"/>
          <p:nvPr/>
        </p:nvSpPr>
        <p:spPr>
          <a:xfrm>
            <a:off x="251520" y="44624"/>
            <a:ext cx="63184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pl-PL" b="1" i="0" dirty="0">
                <a:solidFill>
                  <a:srgbClr val="222222"/>
                </a:solidFill>
                <a:effectLst/>
                <a:latin typeface="PT Serif" panose="020A0603040505020204" pitchFamily="18" charset="0"/>
              </a:rPr>
              <a:t>F1 = (w ≡ x) ∧ (y → z) </a:t>
            </a:r>
            <a:r>
              <a:rPr lang="ru-RU" b="1" i="0" dirty="0">
                <a:solidFill>
                  <a:srgbClr val="222222"/>
                </a:solidFill>
                <a:effectLst/>
                <a:latin typeface="PT Serif" panose="020A0603040505020204" pitchFamily="18" charset="0"/>
              </a:rPr>
              <a:t>          </a:t>
            </a:r>
            <a:r>
              <a:rPr lang="pl-PL" b="1" i="0" dirty="0">
                <a:solidFill>
                  <a:srgbClr val="222222"/>
                </a:solidFill>
                <a:effectLst/>
                <a:latin typeface="PT Serif" panose="020A0603040505020204" pitchFamily="18" charset="0"/>
              </a:rPr>
              <a:t>F2 = (w → x) → (y ≡ z)</a:t>
            </a:r>
            <a:endParaRPr lang="ru-RU" b="1" i="0" dirty="0">
              <a:solidFill>
                <a:srgbClr val="222222"/>
              </a:solidFill>
              <a:effectLst/>
              <a:latin typeface="PT Serif" panose="020A0603040505020204" pitchFamily="18" charset="0"/>
            </a:endParaRPr>
          </a:p>
          <a:p>
            <a:pPr algn="l" fontAlgn="base"/>
            <a:endParaRPr lang="ru-RU" b="1" i="0" dirty="0">
              <a:solidFill>
                <a:srgbClr val="222222"/>
              </a:solidFill>
              <a:effectLst/>
              <a:latin typeface="PT Serif" panose="020A06030405050202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5A72F85-0A85-4BDD-B950-2A50E78272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09668"/>
            <a:ext cx="9144000" cy="3638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9576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EF9A93-C94B-40D1-B074-605307776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>
                <a:solidFill>
                  <a:srgbClr val="222222"/>
                </a:solidFill>
                <a:latin typeface="PT Serif" panose="020A0603040505020204" pitchFamily="18" charset="0"/>
              </a:rPr>
              <a:t>Рассмотрим 2 строку таблицы</a:t>
            </a:r>
            <a:br>
              <a:rPr lang="pl-PL" b="1" i="0" dirty="0">
                <a:solidFill>
                  <a:srgbClr val="222222"/>
                </a:solidFill>
                <a:effectLst/>
                <a:latin typeface="PT Serif" panose="020A0603040505020204" pitchFamily="18" charset="0"/>
              </a:rPr>
            </a:b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97BCC32-31B2-4882-A7BA-53641EDCBA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3F07714-C3A3-4033-889F-C9FBA543E2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08720"/>
            <a:ext cx="9144000" cy="5582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0797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EF9A93-C94B-40D1-B074-605307776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>
                <a:solidFill>
                  <a:srgbClr val="222222"/>
                </a:solidFill>
                <a:latin typeface="PT Serif" panose="020A0603040505020204" pitchFamily="18" charset="0"/>
              </a:rPr>
              <a:t>Рассмотрим 3 строку таблицы</a:t>
            </a:r>
            <a:br>
              <a:rPr lang="pl-PL" b="1" i="0" dirty="0">
                <a:solidFill>
                  <a:srgbClr val="222222"/>
                </a:solidFill>
                <a:effectLst/>
                <a:latin typeface="PT Serif" panose="020A0603040505020204" pitchFamily="18" charset="0"/>
              </a:rPr>
            </a:br>
            <a:endParaRPr lang="en-US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80E3F7A3-F49A-412D-94DE-1980972862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49058" t="32452" r="18899" b="24591"/>
          <a:stretch/>
        </p:blipFill>
        <p:spPr>
          <a:xfrm>
            <a:off x="899592" y="1196752"/>
            <a:ext cx="7128792" cy="5661099"/>
          </a:xfrm>
        </p:spPr>
      </p:pic>
    </p:spTree>
    <p:extLst>
      <p:ext uri="{BB962C8B-B14F-4D97-AF65-F5344CB8AC3E}">
        <p14:creationId xmlns:p14="http://schemas.microsoft.com/office/powerpoint/2010/main" val="37980489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Важно</a:t>
            </a:r>
            <a:r>
              <a:rPr lang="en-US" dirty="0"/>
              <a:t>:</a:t>
            </a:r>
            <a:br>
              <a:rPr lang="en-US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Соблюдать отступы на </a:t>
            </a:r>
            <a:r>
              <a:rPr lang="en-US" dirty="0"/>
              <a:t>python</a:t>
            </a:r>
          </a:p>
          <a:p>
            <a:r>
              <a:rPr lang="ru-RU" dirty="0"/>
              <a:t> последний столбец таблицы со значениями 1 или 0, где 1-</a:t>
            </a:r>
            <a:r>
              <a:rPr lang="en-US" dirty="0"/>
              <a:t>true,0-false</a:t>
            </a:r>
          </a:p>
          <a:p>
            <a:r>
              <a:rPr lang="en-US" dirty="0"/>
              <a:t>Range(2)</a:t>
            </a:r>
            <a:r>
              <a:rPr lang="ru-RU" dirty="0"/>
              <a:t> означает что переменные будут принимать значение 0 и 1.</a:t>
            </a:r>
          </a:p>
          <a:p>
            <a:r>
              <a:rPr lang="ru-RU" dirty="0"/>
              <a:t>Для каждой переменной перебираются все возможные последовательности.</a:t>
            </a:r>
          </a:p>
          <a:p>
            <a:r>
              <a:rPr lang="ru-RU" dirty="0"/>
              <a:t>Можно заучить как шаблон.</a:t>
            </a:r>
          </a:p>
          <a:p>
            <a:r>
              <a:rPr lang="ru-RU" dirty="0"/>
              <a:t>Очень легкое задание.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2448518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789</Words>
  <Application>Microsoft Office PowerPoint</Application>
  <PresentationFormat>Экран (4:3)</PresentationFormat>
  <Paragraphs>68</Paragraphs>
  <Slides>18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3" baseType="lpstr">
      <vt:lpstr>Arial</vt:lpstr>
      <vt:lpstr>Calibri</vt:lpstr>
      <vt:lpstr>PT Serif</vt:lpstr>
      <vt:lpstr>Verdana</vt:lpstr>
      <vt:lpstr>Тема Office</vt:lpstr>
      <vt:lpstr>Общая теория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2 задание</vt:lpstr>
      <vt:lpstr>Запись на python для данной задачи (другой шаблон): print(‘x y z w’) for x in range(2):       for y in range(2):             for z in range(2):                   for w in range(2):                        if ((x or (not (y))) and (not(y==z)) and w)==True:                             print(x,y,z,w) </vt:lpstr>
      <vt:lpstr>Презентация PowerPoint</vt:lpstr>
      <vt:lpstr>Презентация PowerPoint</vt:lpstr>
      <vt:lpstr>Рассмотрим 2 строку таблицы </vt:lpstr>
      <vt:lpstr>Рассмотрим 3 строку таблицы </vt:lpstr>
      <vt:lpstr>Важно: 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 задание</dc:title>
  <dc:creator>1</dc:creator>
  <cp:lastModifiedBy>rimma</cp:lastModifiedBy>
  <cp:revision>12</cp:revision>
  <dcterms:created xsi:type="dcterms:W3CDTF">2022-10-30T12:46:29Z</dcterms:created>
  <dcterms:modified xsi:type="dcterms:W3CDTF">2025-09-17T10:33:21Z</dcterms:modified>
</cp:coreProperties>
</file>